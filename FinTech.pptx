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7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31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25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32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11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54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88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59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78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4741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379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7657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872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220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21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240D3-A6B3-4F24-BCA9-2447FABCE189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8C00B3-B821-4974-B30C-87CDA2BDDA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46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18249" y="2493035"/>
            <a:ext cx="7729267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Algerian" panose="04020705040A02060702" pitchFamily="82" charset="0"/>
              </a:rPr>
              <a:t>Submitted by: YOGITHA J</a:t>
            </a:r>
            <a:br>
              <a:rPr lang="en-US" sz="3200" b="1" dirty="0" smtClean="0">
                <a:latin typeface="Algerian" panose="04020705040A02060702" pitchFamily="82" charset="0"/>
              </a:rPr>
            </a:br>
            <a:r>
              <a:rPr lang="en-US" sz="3200" b="1" dirty="0" smtClean="0">
                <a:latin typeface="Algerian" panose="04020705040A02060702" pitchFamily="82" charset="0"/>
              </a:rPr>
              <a:t>Department: COMPUTER SCIENCE AND ENGINEERING</a:t>
            </a:r>
            <a:br>
              <a:rPr lang="en-US" sz="3200" b="1" dirty="0" smtClean="0">
                <a:latin typeface="Algerian" panose="04020705040A02060702" pitchFamily="82" charset="0"/>
              </a:rPr>
            </a:br>
            <a:r>
              <a:rPr lang="en-US" sz="3200" b="1" dirty="0" smtClean="0">
                <a:latin typeface="Algerian" panose="04020705040A02060702" pitchFamily="82" charset="0"/>
              </a:rPr>
              <a:t>Academic Year: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2482" y="301925"/>
            <a:ext cx="7168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>
                <a:latin typeface="Bahnschrift Light Condensed" panose="020B0502040204020203" pitchFamily="34" charset="0"/>
              </a:rPr>
              <a:t>AI-Powered Personal Loan Assistant for Enhanced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428144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969" y="1725283"/>
            <a:ext cx="8755812" cy="38318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Agency FB" panose="020B0503020202020204" pitchFamily="34" charset="0"/>
              </a:rPr>
              <a:t>1. </a:t>
            </a:r>
            <a:r>
              <a:rPr lang="en-GB" dirty="0" err="1" smtClean="0">
                <a:latin typeface="Agency FB" panose="020B0503020202020204" pitchFamily="34" charset="0"/>
              </a:rPr>
              <a:t>Chatbots</a:t>
            </a:r>
            <a:r>
              <a:rPr lang="en-GB" dirty="0" smtClean="0">
                <a:latin typeface="Agency FB" panose="020B0503020202020204" pitchFamily="34" charset="0"/>
              </a:rPr>
              <a:t> improve customer interaction</a:t>
            </a:r>
            <a:r>
              <a:rPr lang="en-GB" dirty="0">
                <a:latin typeface="Agency FB" panose="020B0503020202020204" pitchFamily="34" charset="0"/>
              </a:rPr>
              <a:t> </a:t>
            </a:r>
            <a:r>
              <a:rPr lang="en-GB" dirty="0" smtClean="0">
                <a:latin typeface="Agency FB" panose="020B0503020202020204" pitchFamily="34" charset="0"/>
              </a:rPr>
              <a:t>- </a:t>
            </a:r>
            <a:r>
              <a:rPr lang="en-GB" b="1" dirty="0" smtClean="0">
                <a:latin typeface="Agency FB" panose="020B0503020202020204" pitchFamily="34" charset="0"/>
              </a:rPr>
              <a:t>Jahangir et al. (2025) – Intelligent Banking </a:t>
            </a:r>
            <a:r>
              <a:rPr lang="en-GB" b="1" dirty="0" err="1" smtClean="0">
                <a:latin typeface="Agency FB" panose="020B0503020202020204" pitchFamily="34" charset="0"/>
              </a:rPr>
              <a:t>Chatbot</a:t>
            </a:r>
            <a:r>
              <a:rPr lang="en-GB" b="1" dirty="0" smtClean="0">
                <a:latin typeface="Agency FB" panose="020B0503020202020204" pitchFamily="34" charset="0"/>
              </a:rPr>
              <a:t> (</a:t>
            </a:r>
            <a:r>
              <a:rPr lang="en-GB" b="1" dirty="0" err="1" smtClean="0">
                <a:latin typeface="Agency FB" panose="020B0503020202020204" pitchFamily="34" charset="0"/>
              </a:rPr>
              <a:t>iDigiChat</a:t>
            </a:r>
            <a:r>
              <a:rPr lang="en-GB" b="1" dirty="0" smtClean="0">
                <a:latin typeface="Agency FB" panose="020B0503020202020204" pitchFamily="34" charset="0"/>
              </a:rPr>
              <a:t>)</a:t>
            </a:r>
            <a:r>
              <a:rPr lang="en-GB" dirty="0" smtClean="0">
                <a:latin typeface="Agency FB" panose="020B0503020202020204" pitchFamily="34" charset="0"/>
              </a:rPr>
              <a:t/>
            </a:r>
            <a:br>
              <a:rPr lang="en-GB" dirty="0" smtClean="0">
                <a:latin typeface="Agency FB" panose="020B0503020202020204" pitchFamily="34" charset="0"/>
              </a:rPr>
            </a:br>
            <a:r>
              <a:rPr lang="en-GB" dirty="0" smtClean="0">
                <a:latin typeface="Agency FB" panose="020B0503020202020204" pitchFamily="34" charset="0"/>
              </a:rPr>
              <a:t>2. </a:t>
            </a:r>
            <a:r>
              <a:rPr lang="en-US" dirty="0" smtClean="0">
                <a:latin typeface="Agency FB" panose="020B0503020202020204" pitchFamily="34" charset="0"/>
              </a:rPr>
              <a:t>RPA automates verification &amp; decision workflows - </a:t>
            </a:r>
            <a:r>
              <a:rPr lang="en-US" b="1" dirty="0" err="1" smtClean="0">
                <a:latin typeface="Agency FB" panose="020B0503020202020204" pitchFamily="34" charset="0"/>
              </a:rPr>
              <a:t>Munnangi</a:t>
            </a:r>
            <a:r>
              <a:rPr lang="en-US" b="1" dirty="0" smtClean="0">
                <a:latin typeface="Agency FB" panose="020B0503020202020204" pitchFamily="34" charset="0"/>
              </a:rPr>
              <a:t> (2024) – Loan Origination Case Study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gency FB" panose="020B0503020202020204" pitchFamily="34" charset="0"/>
              </a:rPr>
              <a:t>3. AI improves loan approval accuracy and speed - </a:t>
            </a:r>
            <a:r>
              <a:rPr lang="en-GB" b="1" dirty="0" err="1" smtClean="0">
                <a:latin typeface="Agency FB" panose="020B0503020202020204" pitchFamily="34" charset="0"/>
              </a:rPr>
              <a:t>Pravean</a:t>
            </a:r>
            <a:r>
              <a:rPr lang="en-GB" b="1" dirty="0" smtClean="0">
                <a:latin typeface="Agency FB" panose="020B0503020202020204" pitchFamily="34" charset="0"/>
              </a:rPr>
              <a:t> et al. (2024) – </a:t>
            </a:r>
            <a:r>
              <a:rPr lang="en-GB" b="1" dirty="0" err="1" smtClean="0">
                <a:latin typeface="Agency FB" panose="020B0503020202020204" pitchFamily="34" charset="0"/>
              </a:rPr>
              <a:t>Chatbot</a:t>
            </a:r>
            <a:r>
              <a:rPr lang="en-GB" b="1" dirty="0" smtClean="0">
                <a:latin typeface="Agency FB" panose="020B0503020202020204" pitchFamily="34" charset="0"/>
              </a:rPr>
              <a:t> + ML for Loan Eligibility</a:t>
            </a:r>
          </a:p>
          <a:p>
            <a:pPr>
              <a:lnSpc>
                <a:spcPct val="150000"/>
              </a:lnSpc>
            </a:pPr>
            <a:r>
              <a:rPr lang="it-IT" dirty="0" smtClean="0">
                <a:latin typeface="Agency FB" panose="020B0503020202020204" pitchFamily="34" charset="0"/>
              </a:rPr>
              <a:t>4. Vuković et al. (2025) – </a:t>
            </a:r>
            <a:r>
              <a:rPr lang="it-IT" b="1" dirty="0" smtClean="0">
                <a:latin typeface="Agency FB" panose="020B0503020202020204" pitchFamily="34" charset="0"/>
              </a:rPr>
              <a:t>AI Integration in Financial Services</a:t>
            </a:r>
            <a:endParaRPr lang="en-US" b="1" dirty="0" smtClean="0">
              <a:latin typeface="Agency FB" panose="020B0503020202020204" pitchFamily="34" charset="0"/>
            </a:endParaRPr>
          </a:p>
          <a:p>
            <a:pPr>
              <a:lnSpc>
                <a:spcPct val="150000"/>
              </a:lnSpc>
            </a:pPr>
            <a:endParaRPr lang="en-GB" dirty="0" smtClean="0">
              <a:latin typeface="Bahnschrift SemiBold Condensed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Insight from Papers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 smtClean="0">
                <a:latin typeface="Agency FB" panose="020B0503020202020204" pitchFamily="34" charset="0"/>
              </a:rPr>
              <a:t>Chatbots</a:t>
            </a:r>
            <a:r>
              <a:rPr lang="en-GB" dirty="0" smtClean="0">
                <a:latin typeface="Agency FB" panose="020B0503020202020204" pitchFamily="34" charset="0"/>
              </a:rPr>
              <a:t> improve customer interaction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latin typeface="Agency FB" panose="020B0503020202020204" pitchFamily="34" charset="0"/>
              </a:rPr>
              <a:t>RPA automates verification &amp; decision workflows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latin typeface="Agency FB" panose="020B0503020202020204" pitchFamily="34" charset="0"/>
              </a:rPr>
              <a:t>AI improves loan approval accuracy and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9637" y="181155"/>
            <a:ext cx="3968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latin typeface="Bahnschrift SemiBold Condensed" panose="020B0502040204020203" pitchFamily="34" charset="0"/>
              </a:rPr>
              <a:t>BASE PAPER</a:t>
            </a:r>
          </a:p>
        </p:txBody>
      </p:sp>
    </p:spTree>
    <p:extLst>
      <p:ext uri="{BB962C8B-B14F-4D97-AF65-F5344CB8AC3E}">
        <p14:creationId xmlns:p14="http://schemas.microsoft.com/office/powerpoint/2010/main" val="352680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8521" y="1940943"/>
            <a:ext cx="8229599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Agency FB" panose="020B0503020202020204" pitchFamily="34" charset="0"/>
              </a:rPr>
              <a:t>Banks face high customer drop-off during online personal loan applications due to manual processes and slow verification. This project proposes an </a:t>
            </a:r>
            <a:r>
              <a:rPr lang="en-US" sz="2000" b="1" dirty="0" smtClean="0">
                <a:latin typeface="Agency FB" panose="020B0503020202020204" pitchFamily="34" charset="0"/>
              </a:rPr>
              <a:t>AI-powered digital loan assistant</a:t>
            </a:r>
            <a:r>
              <a:rPr lang="en-US" sz="2000" dirty="0" smtClean="0">
                <a:latin typeface="Agency FB" panose="020B0503020202020204" pitchFamily="34" charset="0"/>
              </a:rPr>
              <a:t> that automates customer interaction, loan eligibility verification, and approval workflows. The system simulates a human loan officer by interacting with customers, validating documents, evaluating credit eligibility, and generating sanction letters automatically. This approach improves customer experience, reduces operational workload, and increases loan conversion rates.</a:t>
            </a:r>
            <a:endParaRPr lang="en-GB" sz="2000" dirty="0">
              <a:latin typeface="Agency FB" panose="020B05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65761" y="189782"/>
            <a:ext cx="147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ABSTRACT</a:t>
            </a: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46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6053" y="1690777"/>
            <a:ext cx="6003985" cy="27997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To automate the personal loan application process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To reduce manual intervention in verification and underwriting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To provide instant and accurate loan decisions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To enhance customer experience through conversational interaction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To improve operational efficiency for </a:t>
            </a:r>
            <a:r>
              <a:rPr lang="en-US" sz="2000" dirty="0" smtClean="0">
                <a:latin typeface="Bahnschrift SemiBold Condensed" panose="020B0502040204020203" pitchFamily="34" charset="0"/>
              </a:rPr>
              <a:t>banks</a:t>
            </a:r>
            <a:endParaRPr lang="en-US" sz="2000" dirty="0"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0" y="276046"/>
            <a:ext cx="1095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OBJECTIVE</a:t>
            </a: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6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4079" y="2080530"/>
            <a:ext cx="6096000" cy="21135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Bahnschrift SemiBold Condensed" panose="020B0502040204020203" pitchFamily="34" charset="0"/>
              </a:rPr>
              <a:t>Applicable to personal loan processing in banks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Bahnschrift SemiBold Condensed" panose="020B0502040204020203" pitchFamily="34" charset="0"/>
              </a:rPr>
              <a:t>Supports customer interaction, verification, and approval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Bahnschrift SemiBold Condensed" panose="020B0502040204020203" pitchFamily="34" charset="0"/>
              </a:rPr>
              <a:t>Handles multiple loan applications simultaneously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Bahnschrift SemiBold Condensed" panose="020B0502040204020203" pitchFamily="34" charset="0"/>
              </a:rPr>
              <a:t>Simulates real-world banking workflows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Bahnschrift SemiBold Condensed" panose="020B0502040204020203" pitchFamily="34" charset="0"/>
              </a:rPr>
              <a:t>Can be extended to other loan products (home, vehicle, education)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0460" y="353683"/>
            <a:ext cx="828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SCOPE</a:t>
            </a: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46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6786" y="1307249"/>
            <a:ext cx="6096000" cy="46119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/>
              <a:t>Existing System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Manual or semi-automated loan processing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Customers fill lengthy online forms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Verification and underwriting handled by humans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Slow approval process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High customer drop-out rate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Increased workload on bank employees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Limitations:</a:t>
            </a:r>
            <a:endParaRPr lang="en-US" dirty="0" smtClean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Time-consuming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Error-prone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Poor customer experience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123427" y="319177"/>
            <a:ext cx="1613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EXISTING SYSTEM</a:t>
            </a: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19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08317" y="1226479"/>
            <a:ext cx="595797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/>
              <a:t>Master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Interacts with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Collects loan requirements (amount, tenure, purpose)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Coordinates backend automation tasks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053750" y="2687757"/>
            <a:ext cx="5857336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 smtClean="0"/>
              <a:t>Worker Agents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/>
              <a:t>Sales Agent:</a:t>
            </a:r>
            <a:r>
              <a:rPr lang="en-GB" dirty="0" smtClean="0"/>
              <a:t> Explains loan offers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/>
              <a:t>Verification Agent:</a:t>
            </a:r>
            <a:r>
              <a:rPr lang="en-GB" dirty="0" smtClean="0"/>
              <a:t> Retrieves KYC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/>
              <a:t>Underwriting Agent:</a:t>
            </a: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Checks credit score &amp; eligibility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Approves, requests documents, or rejects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/>
              <a:t>Sanction Letter Generator:</a:t>
            </a: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Generates loan approval PDF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408317" y="5517979"/>
            <a:ext cx="60960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b="1" dirty="0" smtClean="0"/>
              <a:t>Edge Case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Polite rejection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Request for additional documents if needed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86996" y="167837"/>
            <a:ext cx="238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PROPOSED SOLUTION</a:t>
            </a: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82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91152" y="2581606"/>
            <a:ext cx="6096000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Faster loan approvals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Personalized customer experience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Ability to handle thousands of customers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Bahnschrift SemiBold Condensed" panose="020B0502040204020203" pitchFamily="34" charset="0"/>
              </a:rPr>
              <a:t>Reduced operational workload for banks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6559" y="388188"/>
            <a:ext cx="2665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n w="0"/>
                <a:latin typeface="Bahnschrift SemiBold Condensed" panose="020B0502040204020203" pitchFamily="34" charset="0"/>
              </a:rPr>
              <a:t>EXPECTED OUTCOMES</a:t>
            </a:r>
            <a:endParaRPr lang="en-GB" sz="2000" dirty="0">
              <a:ln w="0"/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1700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</TotalTime>
  <Words>320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Agency FB</vt:lpstr>
      <vt:lpstr>Algerian</vt:lpstr>
      <vt:lpstr>Arial</vt:lpstr>
      <vt:lpstr>Bahnschrift Light Condensed</vt:lpstr>
      <vt:lpstr>Bahnschrift SemiBold Condensed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</dc:creator>
  <cp:lastModifiedBy>INTEL</cp:lastModifiedBy>
  <cp:revision>8</cp:revision>
  <dcterms:created xsi:type="dcterms:W3CDTF">2026-01-06T15:02:56Z</dcterms:created>
  <dcterms:modified xsi:type="dcterms:W3CDTF">2026-01-06T16:34:57Z</dcterms:modified>
</cp:coreProperties>
</file>